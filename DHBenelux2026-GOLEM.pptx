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3500"/>
  <p:notesSz cx="6858000" cy="9144000"/>
  <p:embeddedFontLst>
    <p:embeddedFont>
      <p:font typeface="Calibri" panose="020F0502020204030204"/>
      <p:regular r:id="rId30"/>
      <p:bold r:id="rId31"/>
      <p:italic r:id="rId32"/>
      <p:boldItalic r:id="rId33"/>
    </p:embeddedFont>
    <p:embeddedFont>
      <p:font typeface="Helvetica Neue" panose="020B0604020202020204"/>
      <p:regular r:id="rId34"/>
      <p:bold r:id="rId35"/>
      <p:italic r:id="rId36"/>
      <p:boldItalic r:id="rId37"/>
    </p:embeddedFont>
    <p:embeddedFont>
      <p:font typeface="Roboto Mono" panose="0000000900000000000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D6CE9C-74AA-4DB9-ABFF-76CCEEB0AC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40" Type="http://schemas.openxmlformats.org/officeDocument/2006/relationships/font" Target="fonts/font11.fntdata"/><Relationship Id="rId4" Type="http://schemas.openxmlformats.org/officeDocument/2006/relationships/slide" Target="slides/slide1.xml"/><Relationship Id="rId39" Type="http://schemas.openxmlformats.org/officeDocument/2006/relationships/font" Target="fonts/font10.fntdata"/><Relationship Id="rId38" Type="http://schemas.openxmlformats.org/officeDocument/2006/relationships/font" Target="fonts/font9.fntdata"/><Relationship Id="rId37" Type="http://schemas.openxmlformats.org/officeDocument/2006/relationships/font" Target="fonts/font8.fntdata"/><Relationship Id="rId36" Type="http://schemas.openxmlformats.org/officeDocument/2006/relationships/font" Target="fonts/font7.fntdata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4b7ecf00f_0_1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4b7ecf00f_0_1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d6f1a0fc9_2_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d6f1a0fc9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ebfc0ad9c_0_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g36ebfc0ad9c_0_102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ebfc0ad9c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g36ebfc0ad9c_0_107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5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13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d6f1a0fc9_2_1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d6f1a0fc9_2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7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8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9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d6f1a0fc9_2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g36d6f1a0fc9_2_26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0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12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14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15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" name="Google Shape;251;p1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9" name="Google Shape;259;p17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4ae289545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7" name="Google Shape;267;g344ae289545_0_3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4ae289545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g344ae289545_0_16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4ae289545_0_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1" name="Google Shape;281;g344ae289545_0_23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ebfc0ad9c_0_1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9" name="Google Shape;289;g36ebfc0ad9c_0_181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7" name="Google Shape;297;p18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" name="Google Shape;86;p14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7" name="Google Shape;87;p1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0" name="Google Shape;90;p1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p17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p1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p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21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21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8" name="Google Shape;118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23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://graph-dev.golemlab.eu:8890/sparql" TargetMode="External"/><Relationship Id="rId1" Type="http://schemas.openxmlformats.org/officeDocument/2006/relationships/hyperlink" Target="https://graph.golemlab.eu:8890/sparq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hub.com/GOLEM-lab/golem-ontology/wiki/8.-IRI-Naming-Conventions-for-Instances-in-Knowledge-Graph" TargetMode="Externa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302750" y="3117825"/>
            <a:ext cx="2589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Graphs and Ontologies for Literary Evolution Models </a:t>
            </a:r>
            <a:endParaRPr sz="1800">
              <a:solidFill>
                <a:srgbClr val="3F3F3F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F3F3F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 5-year (2023-2027) research project funded by the European Commission (ERC StG)</a:t>
            </a:r>
            <a:endParaRPr sz="1800">
              <a:solidFill>
                <a:srgbClr val="3F3F3F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130" name="Google Shape;130;p25"/>
          <p:cNvPicPr preferRelativeResize="0"/>
          <p:nvPr/>
        </p:nvPicPr>
        <p:blipFill rotWithShape="1">
          <a:blip r:embed="rId1"/>
          <a:srcRect l="5096" t="19474" b="21119"/>
          <a:stretch>
            <a:fillRect/>
          </a:stretch>
        </p:blipFill>
        <p:spPr>
          <a:xfrm>
            <a:off x="201450" y="4242450"/>
            <a:ext cx="1869576" cy="82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02750" y="263100"/>
            <a:ext cx="2415225" cy="270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3416000" y="3576950"/>
            <a:ext cx="24153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Xiaoyan Yang</a:t>
            </a:r>
            <a:endParaRPr sz="2400">
              <a:solidFill>
                <a:srgbClr val="00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877975" y="263100"/>
            <a:ext cx="199072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/>
        </p:nvSpPr>
        <p:spPr>
          <a:xfrm>
            <a:off x="3054985" y="1308100"/>
            <a:ext cx="6089015" cy="81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GOLEM Knowledge Graph</a:t>
            </a:r>
            <a:endParaRPr lang="en-US" altLang="zh-CN" sz="3600" b="1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3341070" y="2213360"/>
            <a:ext cx="5043600" cy="102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Study Metadata and Characters with SPARQL</a:t>
            </a:r>
            <a:endParaRPr lang="en-US" sz="2400" b="1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4"/>
          <a:srcRect t="8146" b="10961"/>
          <a:stretch>
            <a:fillRect/>
          </a:stretch>
        </p:blipFill>
        <p:spPr>
          <a:xfrm>
            <a:off x="6980170" y="3301540"/>
            <a:ext cx="1404925" cy="1704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7962175" y="2995800"/>
            <a:ext cx="9492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95959"/>
              </a:solidFill>
            </a:endParaRPr>
          </a:p>
        </p:txBody>
      </p:sp>
      <p:pic>
        <p:nvPicPr>
          <p:cNvPr id="1" name="图片 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1370" y="-6985"/>
            <a:ext cx="2306320" cy="11055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GOLEM KG and named subgraphs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44" name="Google Shape;144;p26"/>
          <p:cNvSpPr txBox="1"/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360"/>
              </a:spcBef>
              <a:spcAft>
                <a:spcPts val="0"/>
              </a:spcAft>
              <a:buSzPts val="2400"/>
              <a:buFont typeface="Helvetica Neue" panose="020B0604020202020204"/>
              <a:buChar char="•"/>
            </a:pPr>
            <a:r>
              <a:rPr lang="en-US"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regular endpoint: </a:t>
            </a:r>
            <a:r>
              <a:rPr lang="en-US" sz="2400" u="sng">
                <a:solidFill>
                  <a:schemeClr val="hlink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  <a:hlinkClick r:id="rId1"/>
              </a:rPr>
              <a:t>https://graph.golemlab.eu:8890/sparql</a:t>
            </a:r>
            <a:r>
              <a:rPr lang="en-US"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</a:t>
            </a:r>
            <a:endParaRPr sz="24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4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BUT today:</a:t>
            </a:r>
            <a:endParaRPr sz="24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0" indent="-381000" algn="l" rtl="0">
              <a:spcBef>
                <a:spcPts val="360"/>
              </a:spcBef>
              <a:spcAft>
                <a:spcPts val="0"/>
              </a:spcAft>
              <a:buSzPts val="2400"/>
              <a:buFont typeface="Helvetica Neue" panose="020B0604020202020204"/>
              <a:buChar char="•"/>
            </a:pPr>
            <a:r>
              <a:rPr lang="en-US"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development endpoint: </a:t>
            </a:r>
            <a:r>
              <a:rPr lang="en-US" sz="2400" u="sng">
                <a:solidFill>
                  <a:schemeClr val="hlink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  <a:hlinkClick r:id="rId2"/>
              </a:rPr>
              <a:t>http://graph-dev.</a:t>
            </a:r>
            <a:r>
              <a:rPr lang="en-US" sz="2400" u="sng">
                <a:solidFill>
                  <a:schemeClr val="hlink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  <a:hlinkClick r:id="rId2"/>
              </a:rPr>
              <a:t>golemlab</a:t>
            </a:r>
            <a:r>
              <a:rPr lang="en-US" sz="2400" u="sng">
                <a:solidFill>
                  <a:schemeClr val="hlink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  <a:hlinkClick r:id="rId2"/>
              </a:rPr>
              <a:t>.eu:8890/sparql</a:t>
            </a:r>
            <a:r>
              <a:rPr lang="en-US"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 </a:t>
            </a:r>
            <a:endParaRPr sz="24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7400475" y="4663225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25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RDF and Knowledge Graphs</a:t>
            </a:r>
            <a:endParaRPr sz="25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51" name="Google Shape;151;p27"/>
          <p:cNvSpPr txBox="1"/>
          <p:nvPr>
            <p:ph type="body" idx="1"/>
          </p:nvPr>
        </p:nvSpPr>
        <p:spPr>
          <a:xfrm>
            <a:off x="457200" y="1200150"/>
            <a:ext cx="8229600" cy="3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17500" algn="l" rtl="0">
              <a:spcBef>
                <a:spcPts val="0"/>
              </a:spcBef>
              <a:spcAft>
                <a:spcPts val="0"/>
              </a:spcAft>
              <a:buSzPts val="2000"/>
              <a:buFont typeface="Helvetica Neue" panose="020B0604020202020204"/>
              <a:buChar char="•"/>
            </a:pPr>
            <a:r>
              <a:rPr lang="en-US" sz="20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Knowledge Graphs store information as networks of entities, using </a:t>
            </a:r>
            <a:r>
              <a:rPr lang="en-US" sz="2000">
                <a:solidFill>
                  <a:srgbClr val="FF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Subject-Predicate-Object</a:t>
            </a:r>
            <a:r>
              <a:rPr lang="en-US" sz="20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triplets. </a:t>
            </a:r>
            <a:endParaRPr sz="20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-317500" algn="l" rtl="0">
              <a:spcBef>
                <a:spcPts val="480"/>
              </a:spcBef>
              <a:spcAft>
                <a:spcPts val="0"/>
              </a:spcAft>
              <a:buSzPts val="2000"/>
              <a:buFont typeface="Helvetica Neue" panose="020B0604020202020204"/>
              <a:buChar char="•"/>
            </a:pPr>
            <a:r>
              <a:rPr lang="en-US" sz="20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‘Shakespeare wrote Hamlet’ →</a:t>
            </a:r>
            <a:endParaRPr sz="20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s(Shakespeare), p(wrote), o(Hamlet) .</a:t>
            </a:r>
            <a:endParaRPr sz="2000">
              <a:solidFill>
                <a:schemeClr val="dk1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3429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ono" panose="00000009000000000000"/>
              <a:buChar char="•"/>
            </a:pPr>
            <a:r>
              <a:rPr lang="en-US" sz="20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Each entity is identified by a ‘resource identifier’ (IRI or URI):</a:t>
            </a:r>
            <a:endParaRPr sz="20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wd:Q692, wdt:P800, wd:Q41567 .</a:t>
            </a:r>
            <a:endParaRPr sz="2000">
              <a:solidFill>
                <a:schemeClr val="dk1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7400475" y="4663225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Querying Knowledge Graphs with SPARQL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58" name="Google Shape;158;p28"/>
          <p:cNvSpPr txBox="1"/>
          <p:nvPr>
            <p:ph type="body" idx="1"/>
          </p:nvPr>
        </p:nvSpPr>
        <p:spPr>
          <a:xfrm>
            <a:off x="457200" y="1063375"/>
            <a:ext cx="8229600" cy="3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92100" algn="l" rtl="0">
              <a:spcBef>
                <a:spcPts val="0"/>
              </a:spcBef>
              <a:spcAft>
                <a:spcPts val="0"/>
              </a:spcAft>
              <a:buSzPts val="1600"/>
              <a:buFont typeface="Helvetica Neue" panose="020B0604020202020204"/>
              <a:buChar char="•"/>
            </a:pPr>
            <a:r>
              <a:rPr lang="en-US" sz="16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SPARQL is the query language for RDF graphs. </a:t>
            </a:r>
            <a:endParaRPr sz="16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SzPts val="1600"/>
              <a:buFont typeface="Helvetica Neue" panose="020B0604020202020204"/>
              <a:buChar char="•"/>
            </a:pPr>
            <a:r>
              <a:rPr lang="en-US" sz="16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 SPARQL query includes </a:t>
            </a:r>
            <a:r>
              <a:rPr lang="en-US" sz="1600">
                <a:solidFill>
                  <a:srgbClr val="FF0000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SELECT</a:t>
            </a:r>
            <a:r>
              <a:rPr lang="en-US" sz="16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and </a:t>
            </a:r>
            <a:r>
              <a:rPr lang="en-US" sz="1600">
                <a:solidFill>
                  <a:srgbClr val="FF0000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WHERE</a:t>
            </a:r>
            <a:r>
              <a:rPr lang="en-US" sz="16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clauses. </a:t>
            </a:r>
            <a:endParaRPr sz="16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SzPts val="1600"/>
              <a:buFont typeface="Helvetica Neue" panose="020B0604020202020204"/>
              <a:buChar char="•"/>
            </a:pPr>
            <a:r>
              <a:rPr lang="en-US" sz="1600">
                <a:solidFill>
                  <a:srgbClr val="FF0000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SELECT</a:t>
            </a:r>
            <a:r>
              <a:rPr lang="en-US" sz="16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defines variables to retrieve (e.g., ?subject), and </a:t>
            </a:r>
            <a:r>
              <a:rPr lang="en-US" sz="1600">
                <a:solidFill>
                  <a:srgbClr val="FF0000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WHERE</a:t>
            </a:r>
            <a:r>
              <a:rPr lang="en-US" sz="16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describes triple patterns to match. </a:t>
            </a:r>
            <a:endParaRPr sz="16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SzPts val="1600"/>
              <a:buFont typeface="Helvetica Neue" panose="020B0604020202020204"/>
              <a:buChar char="•"/>
            </a:pPr>
            <a:r>
              <a:rPr lang="en-US" sz="16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Prefixes simplify long URIs:</a:t>
            </a:r>
            <a:endParaRPr sz="16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600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914400" lvl="1" indent="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600">
                <a:solidFill>
                  <a:schemeClr val="dk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PREFIX schema: &lt;https://schema.org/&gt;</a:t>
            </a:r>
            <a:endParaRPr sz="1600">
              <a:solidFill>
                <a:schemeClr val="dk1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914400" lvl="1" indent="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600">
              <a:solidFill>
                <a:schemeClr val="dk1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914400" lvl="1" indent="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600">
                <a:solidFill>
                  <a:schemeClr val="dk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SELECT ?work ?title</a:t>
            </a:r>
            <a:endParaRPr sz="1600">
              <a:solidFill>
                <a:schemeClr val="dk1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914400" lvl="1" indent="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600">
                <a:solidFill>
                  <a:schemeClr val="dk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WHERE {</a:t>
            </a:r>
            <a:endParaRPr sz="1600">
              <a:solidFill>
                <a:schemeClr val="dk1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914400" lvl="1" indent="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600">
                <a:solidFill>
                  <a:schemeClr val="dk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  ?work schema:title ?title .</a:t>
            </a:r>
            <a:endParaRPr sz="1600">
              <a:solidFill>
                <a:schemeClr val="dk1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914400" lvl="1" indent="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600">
                <a:solidFill>
                  <a:schemeClr val="dk1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}</a:t>
            </a:r>
            <a:endParaRPr sz="1600">
              <a:solidFill>
                <a:schemeClr val="dk1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7400475" y="4663225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GOLEM KG 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65" name="Google Shape;165;p29"/>
          <p:cNvSpPr txBox="1"/>
          <p:nvPr>
            <p:ph type="body" idx="1"/>
          </p:nvPr>
        </p:nvSpPr>
        <p:spPr>
          <a:xfrm>
            <a:off x="457200" y="1200150"/>
            <a:ext cx="862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58140" algn="l" rtl="0"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 panose="020B0604020202020204"/>
              <a:buChar char="•"/>
            </a:pPr>
            <a:r>
              <a:rPr lang="en-US"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GOLEM reuses CIDOC-CRM, DOLCE, LRMoo, Schema:</a:t>
            </a:r>
            <a:endParaRPr sz="24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1" indent="0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900"/>
          </a:p>
          <a:p>
            <a:pPr marL="0" lvl="1" indent="0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PREFIX </a:t>
            </a:r>
            <a:r>
              <a:rPr lang="en-US" sz="18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dl</a:t>
            </a:r>
            <a:r>
              <a:rPr lang="en-US" sz="18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p</a:t>
            </a:r>
            <a:r>
              <a:rPr lang="en-US" sz="18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: &lt;http://www.ontologydesignpatterns.org/ont/dlp/&gt;</a:t>
            </a:r>
            <a:endParaRPr sz="18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1" indent="0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PREFIX schema: &lt;https://schema.org/&gt;</a:t>
            </a:r>
            <a:endParaRPr sz="18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1" indent="0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PREFIX crm: &lt;http://www.cidoc-crm.org/cidoc-crm/&gt;</a:t>
            </a:r>
            <a:endParaRPr sz="18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1" indent="0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PREFIX lrm: &lt;http://iflastandards.info/ns/lrm/lrmoo/&gt;</a:t>
            </a:r>
            <a:endParaRPr sz="18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1" indent="0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PREFIX gc: &lt;https://ontology.golemlab.eu/&gt;</a:t>
            </a:r>
            <a:endParaRPr sz="18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1" indent="0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PREFIX gd: &lt;https://data.golemlab.eu/entity/&gt;</a:t>
            </a:r>
            <a:endParaRPr sz="18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1" indent="0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PREFIX gt: &lt;https://data.golemlab.eu/entity/type/&gt;</a:t>
            </a:r>
            <a:endParaRPr sz="18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7400475" y="4663225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2077" y="36282"/>
            <a:ext cx="9061925" cy="462258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 txBox="1"/>
          <p:nvPr/>
        </p:nvSpPr>
        <p:spPr>
          <a:xfrm>
            <a:off x="135499" y="504529"/>
            <a:ext cx="1349400" cy="432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Fandom</a:t>
            </a:r>
            <a:endParaRPr sz="135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3" name="Google Shape;173;p30"/>
          <p:cNvSpPr/>
          <p:nvPr/>
        </p:nvSpPr>
        <p:spPr>
          <a:xfrm>
            <a:off x="2654443" y="1255819"/>
            <a:ext cx="1351200" cy="873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0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74" name="Google Shape;174;p30"/>
          <p:cNvCxnSpPr>
            <a:stCxn id="173" idx="0"/>
            <a:endCxn id="175" idx="1"/>
          </p:cNvCxnSpPr>
          <p:nvPr/>
        </p:nvCxnSpPr>
        <p:spPr>
          <a:xfrm rot="10800000" flipH="1">
            <a:off x="3330043" y="502519"/>
            <a:ext cx="1325400" cy="753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0"/>
          <p:cNvSpPr txBox="1"/>
          <p:nvPr/>
        </p:nvSpPr>
        <p:spPr>
          <a:xfrm>
            <a:off x="655198" y="3782983"/>
            <a:ext cx="1401300" cy="434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Character</a:t>
            </a:r>
            <a:endParaRPr sz="135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7" name="Google Shape;177;p30"/>
          <p:cNvSpPr/>
          <p:nvPr/>
        </p:nvSpPr>
        <p:spPr>
          <a:xfrm>
            <a:off x="2544697" y="2445762"/>
            <a:ext cx="1570500" cy="2290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0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78" name="Google Shape;178;p30"/>
          <p:cNvCxnSpPr>
            <a:stCxn id="176" idx="3"/>
          </p:cNvCxnSpPr>
          <p:nvPr/>
        </p:nvCxnSpPr>
        <p:spPr>
          <a:xfrm rot="10800000" flipH="1">
            <a:off x="2056498" y="3922783"/>
            <a:ext cx="481500" cy="77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" name="Google Shape;175;p30"/>
          <p:cNvSpPr txBox="1"/>
          <p:nvPr/>
        </p:nvSpPr>
        <p:spPr>
          <a:xfrm>
            <a:off x="4655429" y="286532"/>
            <a:ext cx="1632000" cy="43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Canon Work</a:t>
            </a:r>
            <a:endParaRPr sz="135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79" name="Google Shape;179;p30"/>
          <p:cNvCxnSpPr>
            <a:stCxn id="180" idx="0"/>
            <a:endCxn id="172" idx="2"/>
          </p:cNvCxnSpPr>
          <p:nvPr/>
        </p:nvCxnSpPr>
        <p:spPr>
          <a:xfrm rot="10800000">
            <a:off x="810229" y="936838"/>
            <a:ext cx="9000" cy="258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30"/>
          <p:cNvSpPr txBox="1"/>
          <p:nvPr/>
        </p:nvSpPr>
        <p:spPr>
          <a:xfrm>
            <a:off x="6470602" y="286532"/>
            <a:ext cx="1431300" cy="43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135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Fan Work</a:t>
            </a:r>
            <a:endParaRPr sz="135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Google Shape;180;p30"/>
          <p:cNvSpPr/>
          <p:nvPr/>
        </p:nvSpPr>
        <p:spPr>
          <a:xfrm>
            <a:off x="143629" y="1195738"/>
            <a:ext cx="1351200" cy="873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0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7400475" y="4663225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83" name="Google Shape;183;p30"/>
          <p:cNvSpPr/>
          <p:nvPr/>
        </p:nvSpPr>
        <p:spPr>
          <a:xfrm>
            <a:off x="2654343" y="65894"/>
            <a:ext cx="1351200" cy="873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0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" name="图片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955" y="3499485"/>
            <a:ext cx="1375410" cy="13754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SPARQL: GOLEM metadata example 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89" name="Google Shape;189;p31"/>
          <p:cNvSpPr txBox="1"/>
          <p:nvPr>
            <p:ph type="body" idx="1"/>
          </p:nvPr>
        </p:nvSpPr>
        <p:spPr>
          <a:xfrm>
            <a:off x="457200" y="1472350"/>
            <a:ext cx="8229600" cy="367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7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SELECT DISTINCT ?work ?title ?creator</a:t>
            </a:r>
            <a:endParaRPr sz="17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7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WHERE {</a:t>
            </a:r>
            <a:endParaRPr sz="17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7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  GRAPH &lt;https://golemlab.eu/graph/dh2025Greek10Metadata&gt; {</a:t>
            </a:r>
            <a:endParaRPr sz="17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7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    ?work a lrm:F1_Work ;</a:t>
            </a:r>
            <a:endParaRPr sz="17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7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          schema:title ?title ;</a:t>
            </a:r>
            <a:endParaRPr sz="17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7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          lrm:R3i_realises ?expression .</a:t>
            </a:r>
            <a:endParaRPr sz="17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7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    ?expression schema:creator ?creator .</a:t>
            </a:r>
            <a:endParaRPr sz="17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7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    ?work crm:P2_has_type gt:T000000014 .    }</a:t>
            </a:r>
            <a:endParaRPr sz="17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7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}</a:t>
            </a:r>
            <a:endParaRPr sz="17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7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LIMIT 10</a:t>
            </a:r>
            <a:endParaRPr sz="1700"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457200" y="966525"/>
            <a:ext cx="62265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[first define prefixes for schema, CRM, LRMoo, and GOLEM]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7400475" y="4663225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304800" y="1962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Core Classes of the Fanfiction Metadata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04800" y="936975"/>
            <a:ext cx="6899964" cy="3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2"/>
          <p:cNvSpPr txBox="1"/>
          <p:nvPr/>
        </p:nvSpPr>
        <p:spPr>
          <a:xfrm>
            <a:off x="304800" y="4599694"/>
            <a:ext cx="868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2"/>
              </a:rPr>
              <a:t>https://github.com/GOLEM-lab/golem-ontology/wiki/8.-IRI-Naming-Conventions-for-Instances-in-Knowledge-Graph</a:t>
            </a:r>
            <a:r>
              <a:rPr lang="en-US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297200" y="4130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Type Instances of the Fanfiction Metadata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204" name="Google Shape;204;p33"/>
          <p:cNvGraphicFramePr/>
          <p:nvPr/>
        </p:nvGraphicFramePr>
        <p:xfrm>
          <a:off x="297200" y="821225"/>
          <a:ext cx="8549600" cy="4166500"/>
        </p:xfrm>
        <a:graphic>
          <a:graphicData uri="http://schemas.openxmlformats.org/drawingml/2006/table">
            <a:tbl>
              <a:tblPr>
                <a:noFill/>
                <a:tableStyleId>{D2D6CE9C-74AA-4DB9-ABFF-76CCEEB0ACE3}</a:tableStyleId>
              </a:tblPr>
              <a:tblGrid>
                <a:gridCol w="1690675"/>
                <a:gridCol w="2804050"/>
                <a:gridCol w="4054875"/>
              </a:tblGrid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Type Instance</a:t>
                      </a:r>
                      <a:endParaRPr sz="12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Class</a:t>
                      </a:r>
                      <a:endParaRPr sz="12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Note</a:t>
                      </a:r>
                      <a:endParaRPr sz="12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gt:T000000028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crm:E58_Measurement_Unit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numberOfHits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gt:T000000029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crm:E58_Measurement_Unit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numberOfKudos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gt:T000000030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crm:E58_Measurement_Unit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numberOfComments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gt:T000000031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crm:E58_Measurement_Unit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numberOfBookmarks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gt:T000000032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crm:E58_Measurement_Unit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wordCount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gt:T000000033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crm:E58_Measurement_Unit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numberOfChapters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gt:T000000034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AO3 Tag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gt:T000000035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Content Warning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gt:T000000036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Romantic Category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gt:T000000037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AO3 Tag： Graphic Depictions Of Violence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gt:T000000038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AO3 Tag： Major Character Death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gt:T000000039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Romantic Categor：F/M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Object and Data Properties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10" name="Google Shape;210;p34"/>
          <p:cNvSpPr txBox="1"/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Object Properties</a:t>
            </a: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connect instances of different classes, r</a:t>
            </a: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epresent relationships between entities</a:t>
            </a: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:</a:t>
            </a: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Helvetica Neue" panose="020B0604020202020204"/>
              <a:buChar char="●"/>
            </a:pP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Structure: Instance → Property → Another Instance</a:t>
            </a: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Helvetica Neue" panose="020B0604020202020204"/>
              <a:buChar char="●"/>
            </a:pP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Example:</a:t>
            </a: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Helvetica Neue" panose="020B0604020202020204"/>
              <a:buChar char="○"/>
            </a:pP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?work → lrm:R3i_realises → ?expression</a:t>
            </a: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Char char="○"/>
            </a:pP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?expression → schema:creator → ?creator</a:t>
            </a:r>
            <a:r>
              <a:rPr lang="en-US" sz="1800">
                <a:solidFill>
                  <a:srgbClr val="404040"/>
                </a:solidFill>
                <a:highlight>
                  <a:srgbClr val="FFFFFF"/>
                </a:highlight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</a:t>
            </a:r>
            <a:endParaRPr sz="1800">
              <a:solidFill>
                <a:srgbClr val="404040"/>
              </a:solidFill>
              <a:highlight>
                <a:srgbClr val="FFFFFF"/>
              </a:highlight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Data Properties</a:t>
            </a: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assign literal values to instances:</a:t>
            </a: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Helvetica Neue" panose="020B0604020202020204"/>
              <a:buChar char="●"/>
            </a:pP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Structure: Instance → Property → Literal Value</a:t>
            </a: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Helvetica Neue" panose="020B0604020202020204"/>
              <a:buChar char="●"/>
            </a:pP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Example from your query:</a:t>
            </a: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Helvetica Neue" panose="020B0604020202020204"/>
              <a:buChar char="○"/>
            </a:pP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?work → schema:title → "Title Text" (where "Title Text" is a string)</a:t>
            </a:r>
            <a:endParaRPr sz="1800">
              <a:solidFill>
                <a:srgbClr val="404040"/>
              </a:solidFill>
              <a:highlight>
                <a:srgbClr val="FFFFFF"/>
              </a:highlight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11" name="Google Shape;211;p34"/>
          <p:cNvSpPr txBox="1"/>
          <p:nvPr/>
        </p:nvSpPr>
        <p:spPr>
          <a:xfrm>
            <a:off x="7410150" y="7185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315750" y="100225"/>
            <a:ext cx="8512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Object Properties of AO3 Metadata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217" name="Google Shape;217;p35"/>
          <p:cNvGraphicFramePr/>
          <p:nvPr/>
        </p:nvGraphicFramePr>
        <p:xfrm>
          <a:off x="315750" y="917650"/>
          <a:ext cx="8675875" cy="3490750"/>
        </p:xfrm>
        <a:graphic>
          <a:graphicData uri="http://schemas.openxmlformats.org/drawingml/2006/table">
            <a:tbl>
              <a:tblPr>
                <a:noFill/>
                <a:tableStyleId>{D2D6CE9C-74AA-4DB9-ABFF-76CCEEB0ACE3}</a:tableStyleId>
              </a:tblPr>
              <a:tblGrid>
                <a:gridCol w="1665300"/>
                <a:gridCol w="2094100"/>
                <a:gridCol w="2061975"/>
                <a:gridCol w="2854500"/>
              </a:tblGrid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Domain</a:t>
                      </a:r>
                      <a:endParaRPr sz="13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Predicate (inverse predicate)</a:t>
                      </a:r>
                      <a:endParaRPr sz="13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Range</a:t>
                      </a:r>
                      <a:endParaRPr sz="13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Note</a:t>
                      </a:r>
                      <a:endParaRPr sz="13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7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lrm:F1_Work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lrm:R3i_realises (lrm:R3_is_realised_in)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work with edition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9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crm:P43_has_dimension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crm:E54_Dimension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edition with numeric metrics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schema:creator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crm:E21_Person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edition with author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schema:keywords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edition with tags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schema:publisher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lrm:F11_Corporate_Body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edition with publisher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crm:E54_Dimension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crm:P2_has_type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crm:E58_Measurement_Unit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edition’s numeric metrics with corresponding classification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lrm:F1_Work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schema:collection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crm:E89_Propositional_Object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work with collection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crm:P127i_has_narrower_term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Type hierarchy</a:t>
                      </a:r>
                      <a:endParaRPr sz="13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35"/>
          <p:cNvSpPr txBox="1"/>
          <p:nvPr/>
        </p:nvSpPr>
        <p:spPr>
          <a:xfrm>
            <a:off x="7419825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24895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Data Properties </a:t>
            </a: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of AO3 Metadata</a:t>
            </a: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224" name="Google Shape;224;p36"/>
          <p:cNvGraphicFramePr/>
          <p:nvPr/>
        </p:nvGraphicFramePr>
        <p:xfrm>
          <a:off x="287688" y="743275"/>
          <a:ext cx="8568625" cy="4206550"/>
        </p:xfrm>
        <a:graphic>
          <a:graphicData uri="http://schemas.openxmlformats.org/drawingml/2006/table">
            <a:tbl>
              <a:tblPr>
                <a:noFill/>
                <a:tableStyleId>{D2D6CE9C-74AA-4DB9-ABFF-76CCEEB0ACE3}</a:tableStyleId>
              </a:tblPr>
              <a:tblGrid>
                <a:gridCol w="1551525"/>
                <a:gridCol w="1898000"/>
                <a:gridCol w="880175"/>
                <a:gridCol w="4238925"/>
              </a:tblGrid>
              <a:tr h="284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Domain</a:t>
                      </a:r>
                      <a:endParaRPr sz="11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Predicate</a:t>
                      </a:r>
                      <a:endParaRPr sz="11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Range</a:t>
                      </a:r>
                      <a:endParaRPr sz="11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Note</a:t>
                      </a:r>
                      <a:endParaRPr sz="11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4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(any type of resource )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skos:prefLabel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xsd:string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Entity label @en, @it…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4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schema:abstract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xsd:string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work with edition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schema:contentRating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xsd:string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edition with relevant metrics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3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schema:creativeWorkStatus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xsd:string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Status of the creative work (e.g., Completed, InProgress, Draft)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schema:inLanguage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xsd:string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Language of the edition (e.g., "en", "es"). Prefer 2-character ISO code.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schema:abstract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xsd:string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Summary or abstract of the edition; links to the intellectual content of a work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schema:datePublished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xsd:date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First publication date of the edition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schema:dateModified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xsd:date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Last modification date of the edition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3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lrm:F2_Expression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schema:endTime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xsd:date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Date when the edition (e.g., a fanfiction) was finished or ended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9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crm:E89_Propositional_Object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schema:url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URL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to the full content or external page (e.g., AO3 story URL)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crm:E54_Dimension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crm:P90_has_value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xsd:decimal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Numerical value for a measurable metric (e.g., word count, kudos)</a:t>
                      </a:r>
                      <a:endParaRPr sz="11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36"/>
          <p:cNvSpPr txBox="1"/>
          <p:nvPr/>
        </p:nvSpPr>
        <p:spPr>
          <a:xfrm>
            <a:off x="7468200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Representing Characters in the GOLEM KG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31" name="Google Shape;231;p37"/>
          <p:cNvSpPr txBox="1"/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 panose="020B0604020202020204"/>
              <a:buChar char="•"/>
            </a:pP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The GOLEM ontology models characters as evolving narrative entities whose identities, traits, and relationships transform across canonical and fan-generated texts. </a:t>
            </a: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 panose="020B0604020202020204"/>
              <a:buChar char="•"/>
            </a:pP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Two-level character modeling strategy:</a:t>
            </a: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    - </a:t>
            </a:r>
            <a:r>
              <a:rPr lang="en-US" sz="2000">
                <a:solidFill>
                  <a:srgbClr val="FF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G1_Character</a:t>
            </a: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: Individual character instantiations</a:t>
            </a: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51435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    - </a:t>
            </a:r>
            <a:r>
              <a:rPr lang="en-US" sz="2000">
                <a:solidFill>
                  <a:srgbClr val="FF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G0_Character-Stoff</a:t>
            </a: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: Broader conceptual entities linking various instances of characters appearing in single works</a:t>
            </a: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32" name="Google Shape;232;p37"/>
          <p:cNvSpPr txBox="1"/>
          <p:nvPr/>
        </p:nvSpPr>
        <p:spPr>
          <a:xfrm>
            <a:off x="7400475" y="4663225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/>
        </p:nvSpPr>
        <p:spPr>
          <a:xfrm>
            <a:off x="354806" y="215776"/>
            <a:ext cx="8230200" cy="4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5"/>
              <a:buFont typeface="Arial" panose="020B0604020202020204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Character</a:t>
            </a:r>
            <a:r>
              <a:rPr lang="en-US" sz="3000" b="1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 in works</a:t>
            </a:r>
            <a:br>
              <a:rPr lang="en-US" sz="300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</a:br>
            <a:endParaRPr sz="300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238" name="Google Shape;238;p38" descr="IMG_256"/>
          <p:cNvPicPr preferRelativeResize="0"/>
          <p:nvPr/>
        </p:nvPicPr>
        <p:blipFill rotWithShape="1">
          <a:blip r:embed="rId1"/>
          <a:srcRect b="26985"/>
          <a:stretch>
            <a:fillRect/>
          </a:stretch>
        </p:blipFill>
        <p:spPr>
          <a:xfrm>
            <a:off x="116925" y="920200"/>
            <a:ext cx="8910150" cy="38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8"/>
          <p:cNvSpPr/>
          <p:nvPr/>
        </p:nvSpPr>
        <p:spPr>
          <a:xfrm>
            <a:off x="456375" y="2635775"/>
            <a:ext cx="8230200" cy="967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0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7468200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/>
        </p:nvSpPr>
        <p:spPr>
          <a:xfrm>
            <a:off x="354806" y="215776"/>
            <a:ext cx="8230200" cy="4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5"/>
              <a:buFont typeface="Arial" panose="020B0604020202020204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Character</a:t>
            </a:r>
            <a:r>
              <a:rPr lang="en-US" sz="3000" b="1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-Stoff</a:t>
            </a:r>
            <a:br>
              <a:rPr lang="en-US" sz="300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</a:br>
            <a:endParaRPr sz="300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246" name="Google Shape;246;p39" descr="IMG_256"/>
          <p:cNvPicPr preferRelativeResize="0"/>
          <p:nvPr/>
        </p:nvPicPr>
        <p:blipFill rotWithShape="1">
          <a:blip r:embed="rId1"/>
          <a:srcRect b="26986"/>
          <a:stretch>
            <a:fillRect/>
          </a:stretch>
        </p:blipFill>
        <p:spPr>
          <a:xfrm>
            <a:off x="116925" y="920200"/>
            <a:ext cx="8910150" cy="38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9"/>
          <p:cNvSpPr/>
          <p:nvPr/>
        </p:nvSpPr>
        <p:spPr>
          <a:xfrm>
            <a:off x="3567650" y="993773"/>
            <a:ext cx="1804500" cy="875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0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8" name="Google Shape;248;p39"/>
          <p:cNvSpPr txBox="1"/>
          <p:nvPr/>
        </p:nvSpPr>
        <p:spPr>
          <a:xfrm>
            <a:off x="7468200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/>
          <p:nvPr/>
        </p:nvSpPr>
        <p:spPr>
          <a:xfrm>
            <a:off x="354806" y="215776"/>
            <a:ext cx="8230200" cy="4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5"/>
              <a:buFont typeface="Arial" panose="020B0604020202020204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Character </a:t>
            </a:r>
            <a:r>
              <a:rPr lang="en-US" sz="3000" b="1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traits</a:t>
            </a:r>
            <a:r>
              <a:rPr lang="en-US" sz="3000" b="1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</a:t>
            </a:r>
            <a:br>
              <a:rPr lang="en-US" sz="300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</a:br>
            <a:endParaRPr sz="300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254" name="Google Shape;254;p40" descr="IMG_256"/>
          <p:cNvPicPr preferRelativeResize="0"/>
          <p:nvPr/>
        </p:nvPicPr>
        <p:blipFill rotWithShape="1">
          <a:blip r:embed="rId1"/>
          <a:srcRect b="26986"/>
          <a:stretch>
            <a:fillRect/>
          </a:stretch>
        </p:blipFill>
        <p:spPr>
          <a:xfrm>
            <a:off x="116925" y="920200"/>
            <a:ext cx="8910150" cy="38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0"/>
          <p:cNvSpPr/>
          <p:nvPr/>
        </p:nvSpPr>
        <p:spPr>
          <a:xfrm>
            <a:off x="3499311" y="3934052"/>
            <a:ext cx="2018700" cy="923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0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6" name="Google Shape;256;p40"/>
          <p:cNvSpPr txBox="1"/>
          <p:nvPr/>
        </p:nvSpPr>
        <p:spPr>
          <a:xfrm>
            <a:off x="7468200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Relationships Between Characters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62" name="Google Shape;262;p41"/>
          <p:cNvSpPr txBox="1"/>
          <p:nvPr>
            <p:ph type="body" idx="1"/>
          </p:nvPr>
        </p:nvSpPr>
        <p:spPr>
          <a:xfrm>
            <a:off x="457200" y="1063238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 panose="020B0604020202020204"/>
              <a:buChar char="•"/>
            </a:pP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Relationships (</a:t>
            </a:r>
            <a:r>
              <a:rPr lang="en-US" sz="1800">
                <a:solidFill>
                  <a:srgbClr val="FF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gc:G4_Social_Relationship</a:t>
            </a: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) include  "romantic/erotic relationship", "familial relationship", "antagonistic relationship" and "social relationship".  </a:t>
            </a: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-304800" algn="l" rtl="0">
              <a:spcBef>
                <a:spcPts val="0"/>
              </a:spcBef>
              <a:spcAft>
                <a:spcPts val="0"/>
              </a:spcAft>
              <a:buSzPts val="1800"/>
              <a:buFont typeface="Helvetica Neue" panose="020B0604020202020204"/>
              <a:buChar char="•"/>
            </a:pP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Relationship roles (</a:t>
            </a:r>
            <a:r>
              <a:rPr lang="en-US" sz="1800">
                <a:solidFill>
                  <a:srgbClr val="FF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gc:G6_Relationship_Role</a:t>
            </a:r>
            <a:r>
              <a:rPr lang="en-US" sz="18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) define the specific nature of a connection between characters within a relationship, such as "wife" "lover" "enemy" "father".</a:t>
            </a: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1" indent="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1" indent="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263" name="Google Shape;263;p41" descr="IMG_25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688940" y="2828401"/>
            <a:ext cx="6187776" cy="224354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1"/>
          <p:cNvSpPr txBox="1"/>
          <p:nvPr/>
        </p:nvSpPr>
        <p:spPr>
          <a:xfrm>
            <a:off x="7468200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Character Agency: Narrative Roles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70" name="Google Shape;270;p42"/>
          <p:cNvSpPr txBox="1"/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 panose="020B0604020202020204"/>
              <a:buChar char="•"/>
            </a:pP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Narrative Roles (</a:t>
            </a:r>
            <a:r>
              <a:rPr lang="en-US" sz="2000">
                <a:solidFill>
                  <a:srgbClr val="FF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gc:G11_Narrative_Role</a:t>
            </a: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) describe a character's function within narrative events (</a:t>
            </a:r>
            <a:r>
              <a:rPr lang="en-US" sz="2000">
                <a:solidFill>
                  <a:srgbClr val="FF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gc:G5_Narrative_Event</a:t>
            </a: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) or sequences (</a:t>
            </a:r>
            <a:r>
              <a:rPr lang="en-US" sz="2000">
                <a:solidFill>
                  <a:srgbClr val="FF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gc:G7_Narrative_Sequence</a:t>
            </a: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), clarifying who performs or is affected by an action (e.g., "victim" or "perpetrator"), linked via the </a:t>
            </a:r>
            <a:r>
              <a:rPr lang="en-US" sz="200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dlp:plays</a:t>
            </a:r>
            <a:r>
              <a:rPr lang="en-US" sz="20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property.</a:t>
            </a: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1" indent="0" algn="l" rtl="0">
              <a:lnSpc>
                <a:spcPct val="115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1" indent="0" algn="l" rtl="0">
              <a:lnSpc>
                <a:spcPct val="115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457200" lvl="1" indent="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71" name="Google Shape;271;p42"/>
          <p:cNvSpPr txBox="1"/>
          <p:nvPr/>
        </p:nvSpPr>
        <p:spPr>
          <a:xfrm>
            <a:off x="7468200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 txBox="1"/>
          <p:nvPr>
            <p:ph type="title"/>
          </p:nvPr>
        </p:nvSpPr>
        <p:spPr>
          <a:xfrm>
            <a:off x="304800" y="6992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Core Classes of the </a:t>
            </a: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Character Module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graphicFrame>
        <p:nvGraphicFramePr>
          <p:cNvPr id="277" name="Google Shape;277;p43"/>
          <p:cNvGraphicFramePr/>
          <p:nvPr/>
        </p:nvGraphicFramePr>
        <p:xfrm>
          <a:off x="308588" y="811100"/>
          <a:ext cx="8526825" cy="3305700"/>
        </p:xfrm>
        <a:graphic>
          <a:graphicData uri="http://schemas.openxmlformats.org/drawingml/2006/table">
            <a:tbl>
              <a:tblPr>
                <a:noFill/>
                <a:tableStyleId>{D2D6CE9C-74AA-4DB9-ABFF-76CCEEB0ACE3}</a:tableStyleId>
              </a:tblPr>
              <a:tblGrid>
                <a:gridCol w="2027650"/>
                <a:gridCol w="2536050"/>
                <a:gridCol w="3963125"/>
              </a:tblGrid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Class </a:t>
                      </a:r>
                      <a:endParaRPr sz="12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Note</a:t>
                      </a:r>
                      <a:endParaRPr sz="12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Example</a:t>
                      </a:r>
                      <a:endParaRPr sz="12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2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gc:G0_Character-Stoff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Abstract character idea connecting several instances of characters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gd:C000000254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"Orpheus (Ancient Greek Religion &amp; Lore)"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gc:G1_Character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Character appearing in a work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gd:W000019008.C000000254, Orpheus in work W000019008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gc:G17_Character_Feature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Character traits/attributes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gd:W000019008.CF00000001, “male”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gc:G4_Social_Relationship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Relationships between characters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gd:W000019008.SR00000001, “Orpheus husband of Eurydice”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2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gc:G6_Relationship_Role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Character roles in relationships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gd:RR0000000</a:t>
                      </a: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1</a:t>
                      </a: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, “husband”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gc:G11_Narrative_Role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Character roles in narratives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gd:NR00000001, “victim”; gd:NR00000001, “perpetrator”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gc:G5_Narrative_Event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Story events involving characters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gd:W000019008.NE00000001, "Eurydice died from a snakebite and descended to the underworld."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5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gc:G7_Narrative_Sequence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Sequences of narrative events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gd:W000019008.NS00000001, "Eurydice's death and descent"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8" name="Google Shape;278;p43"/>
          <p:cNvSpPr txBox="1"/>
          <p:nvPr/>
        </p:nvSpPr>
        <p:spPr>
          <a:xfrm>
            <a:off x="7468200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 txBox="1"/>
          <p:nvPr>
            <p:ph type="title"/>
          </p:nvPr>
        </p:nvSpPr>
        <p:spPr>
          <a:xfrm>
            <a:off x="228600" y="9345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Object Properties</a:t>
            </a: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of the Character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84" name="Google Shape;284;p44"/>
          <p:cNvSpPr txBox="1"/>
          <p:nvPr/>
        </p:nvSpPr>
        <p:spPr>
          <a:xfrm>
            <a:off x="304800" y="4599694"/>
            <a:ext cx="8686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00"/>
          </a:p>
        </p:txBody>
      </p:sp>
      <p:graphicFrame>
        <p:nvGraphicFramePr>
          <p:cNvPr id="285" name="Google Shape;285;p44"/>
          <p:cNvGraphicFramePr/>
          <p:nvPr/>
        </p:nvGraphicFramePr>
        <p:xfrm>
          <a:off x="254575" y="1091975"/>
          <a:ext cx="8634825" cy="3009900"/>
        </p:xfrm>
        <a:graphic>
          <a:graphicData uri="http://schemas.openxmlformats.org/drawingml/2006/table">
            <a:tbl>
              <a:tblPr>
                <a:noFill/>
                <a:tableStyleId>{D2D6CE9C-74AA-4DB9-ABFF-76CCEEB0ACE3}</a:tableStyleId>
              </a:tblPr>
              <a:tblGrid>
                <a:gridCol w="1983450"/>
                <a:gridCol w="2198350"/>
                <a:gridCol w="2006775"/>
                <a:gridCol w="2446250"/>
              </a:tblGrid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Domain</a:t>
                      </a:r>
                      <a:endParaRPr sz="12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Predicate</a:t>
                      </a:r>
                      <a:endParaRPr sz="12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Range</a:t>
                      </a:r>
                      <a:endParaRPr sz="12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Note</a:t>
                      </a:r>
                      <a:endParaRPr sz="12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gc:G1_Character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gc:GP1_is_character_in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lrm:F1_Work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character to work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gc:G1_Character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crm:P130_shows_features_of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gc:G0_Character-Stoff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instance to abstract idea of the character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gc:G1_Character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dlp:plays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gc:G11_Narrative_Role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Links character to narrative role, e.g. “victim”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gc:G1_Character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dlp:participant-in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gc:G5_Narrative_Event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Character’s participation in events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gc:G1_Character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gc:GP0_has_feature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gc:G17_Character_Feature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Character traits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gc:G4_Social_Relationship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dlp:involves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gc:G1_Character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Relationships in which the characters is involved</a:t>
                      </a:r>
                      <a:endParaRPr sz="12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0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6" name="Google Shape;286;p44"/>
          <p:cNvSpPr txBox="1"/>
          <p:nvPr/>
        </p:nvSpPr>
        <p:spPr>
          <a:xfrm>
            <a:off x="7468200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/>
          <p:nvPr>
            <p:ph type="title"/>
          </p:nvPr>
        </p:nvSpPr>
        <p:spPr>
          <a:xfrm>
            <a:off x="228600" y="9345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0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Object Properties of the Character</a:t>
            </a:r>
            <a:endParaRPr sz="30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92" name="Google Shape;292;p45"/>
          <p:cNvSpPr txBox="1"/>
          <p:nvPr/>
        </p:nvSpPr>
        <p:spPr>
          <a:xfrm>
            <a:off x="304800" y="4599694"/>
            <a:ext cx="8686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00"/>
          </a:p>
        </p:txBody>
      </p:sp>
      <p:graphicFrame>
        <p:nvGraphicFramePr>
          <p:cNvPr id="293" name="Google Shape;293;p45"/>
          <p:cNvGraphicFramePr/>
          <p:nvPr/>
        </p:nvGraphicFramePr>
        <p:xfrm>
          <a:off x="304800" y="1198525"/>
          <a:ext cx="8153375" cy="3000000"/>
        </p:xfrm>
        <a:graphic>
          <a:graphicData uri="http://schemas.openxmlformats.org/drawingml/2006/table">
            <a:tbl>
              <a:tblPr>
                <a:noFill/>
                <a:tableStyleId>{D2D6CE9C-74AA-4DB9-ABFF-76CCEEB0ACE3}</a:tableStyleId>
              </a:tblPr>
              <a:tblGrid>
                <a:gridCol w="1987700"/>
                <a:gridCol w="2557425"/>
                <a:gridCol w="3608250"/>
              </a:tblGrid>
              <a:tr h="171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Type Instance</a:t>
                      </a:r>
                      <a:endParaRPr sz="15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Class</a:t>
                      </a:r>
                      <a:endParaRPr sz="15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Note</a:t>
                      </a:r>
                      <a:endParaRPr sz="1500" b="1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gt:T000000004</a:t>
                      </a:r>
                      <a:endParaRPr sz="15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5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Biographical features (Gender, etc.)</a:t>
                      </a:r>
                      <a:endParaRPr sz="15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gt:T000000005</a:t>
                      </a:r>
                      <a:endParaRPr sz="15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5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Physical features</a:t>
                      </a:r>
                      <a:endParaRPr sz="15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gt:T000000006</a:t>
                      </a:r>
                      <a:endParaRPr sz="15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crm:E55_Type</a:t>
                      </a:r>
                      <a:endParaRPr sz="15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" panose="020B0604020202020204"/>
                          <a:ea typeface="Helvetica Neue" panose="020B0604020202020204"/>
                          <a:cs typeface="Helvetica Neue" panose="020B0604020202020204"/>
                          <a:sym typeface="Helvetica Neue" panose="020B0604020202020204"/>
                        </a:rPr>
                        <a:t>Psychological features</a:t>
                      </a:r>
                      <a:endParaRPr sz="1500">
                        <a:latin typeface="Helvetica Neue" panose="020B0604020202020204"/>
                        <a:ea typeface="Helvetica Neue" panose="020B0604020202020204"/>
                        <a:cs typeface="Helvetica Neue" panose="020B0604020202020204"/>
                        <a:sym typeface="Helvetica Neue" panose="020B0604020202020204"/>
                      </a:endParaRPr>
                    </a:p>
                  </a:txBody>
                  <a:tcPr marL="63500" marR="63500" marT="91425" marB="91425">
                    <a:lnL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94" name="Google Shape;294;p45"/>
          <p:cNvSpPr txBox="1"/>
          <p:nvPr/>
        </p:nvSpPr>
        <p:spPr>
          <a:xfrm>
            <a:off x="7468200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type="title"/>
          </p:nvPr>
        </p:nvSpPr>
        <p:spPr>
          <a:xfrm>
            <a:off x="457200" y="29315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600" b="1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Practical Session!</a:t>
            </a:r>
            <a:endParaRPr sz="3600" b="1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300" name="Google Shape;300;p46"/>
          <p:cNvPicPr preferRelativeResize="0"/>
          <p:nvPr/>
        </p:nvPicPr>
        <p:blipFill rotWithShape="1">
          <a:blip r:embed="rId1"/>
          <a:srcRect t="8146" b="10961"/>
          <a:stretch>
            <a:fillRect/>
          </a:stretch>
        </p:blipFill>
        <p:spPr>
          <a:xfrm>
            <a:off x="6791575" y="3438700"/>
            <a:ext cx="1404925" cy="1704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6"/>
          <p:cNvSpPr/>
          <p:nvPr/>
        </p:nvSpPr>
        <p:spPr>
          <a:xfrm>
            <a:off x="7225030" y="2357120"/>
            <a:ext cx="1783080" cy="1219835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46"/>
          <p:cNvSpPr txBox="1"/>
          <p:nvPr/>
        </p:nvSpPr>
        <p:spPr>
          <a:xfrm>
            <a:off x="7307580" y="2706370"/>
            <a:ext cx="1604010" cy="65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>
                <a:solidFill>
                  <a:srgbClr val="595959"/>
                </a:solidFill>
                <a:ea typeface="宋体" panose="02010600030101010101" pitchFamily="2" charset="-122"/>
              </a:rPr>
              <a:t>Any Question?</a:t>
            </a:r>
            <a:endParaRPr lang="en-US" altLang="zh-CN" sz="1800">
              <a:solidFill>
                <a:srgbClr val="595959"/>
              </a:solidFill>
              <a:ea typeface="宋体" panose="02010600030101010101" pitchFamily="2" charset="-122"/>
            </a:endParaRPr>
          </a:p>
        </p:txBody>
      </p:sp>
      <p:sp>
        <p:nvSpPr>
          <p:cNvPr id="303" name="Google Shape;303;p46"/>
          <p:cNvSpPr txBox="1"/>
          <p:nvPr/>
        </p:nvSpPr>
        <p:spPr>
          <a:xfrm>
            <a:off x="2050200" y="1626900"/>
            <a:ext cx="50436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SPARQL queries for </a:t>
            </a:r>
            <a:r>
              <a:rPr lang="en-US" sz="3000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Metadata and Characters</a:t>
            </a:r>
            <a:endParaRPr sz="3000"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04" name="Google Shape;304;p46"/>
          <p:cNvSpPr txBox="1"/>
          <p:nvPr/>
        </p:nvSpPr>
        <p:spPr>
          <a:xfrm>
            <a:off x="7468200" y="0"/>
            <a:ext cx="167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7850</Words>
  <Application>WPS 演示</Application>
  <PresentationFormat/>
  <Paragraphs>525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宋体</vt:lpstr>
      <vt:lpstr>Wingdings</vt:lpstr>
      <vt:lpstr>Arial</vt:lpstr>
      <vt:lpstr>Calibri</vt:lpstr>
      <vt:lpstr>Helvetica Neue</vt:lpstr>
      <vt:lpstr>Roboto Mono</vt:lpstr>
      <vt:lpstr>Roboto</vt:lpstr>
      <vt:lpstr>Times New Roman</vt:lpstr>
      <vt:lpstr>微软雅黑</vt:lpstr>
      <vt:lpstr>Arial Unicode MS</vt:lpstr>
      <vt:lpstr>Office Theme</vt:lpstr>
      <vt:lpstr>Simple Light</vt:lpstr>
      <vt:lpstr>PowerPoint 演示文稿</vt:lpstr>
      <vt:lpstr>GOLEM KG and named subgraphs</vt:lpstr>
      <vt:lpstr>RDF and Knowledge Graphs</vt:lpstr>
      <vt:lpstr>Querying Knowledge Graphs with SPARQL</vt:lpstr>
      <vt:lpstr>GOLEM KG </vt:lpstr>
      <vt:lpstr>PowerPoint 演示文稿</vt:lpstr>
      <vt:lpstr>SPARQL: GOLEM metadata example </vt:lpstr>
      <vt:lpstr>Core Classes of the Fanfiction Metadata</vt:lpstr>
      <vt:lpstr>Type Instances of the Fanfiction Metadata</vt:lpstr>
      <vt:lpstr>Object and Data Properties</vt:lpstr>
      <vt:lpstr>Object Properties of AO3 Metadata</vt:lpstr>
      <vt:lpstr>Data Properties of AO3 Metadata </vt:lpstr>
      <vt:lpstr>Representing Characters in the GOLEM KG</vt:lpstr>
      <vt:lpstr>PowerPoint 演示文稿</vt:lpstr>
      <vt:lpstr>PowerPoint 演示文稿</vt:lpstr>
      <vt:lpstr>PowerPoint 演示文稿</vt:lpstr>
      <vt:lpstr>Relationships Between Characters</vt:lpstr>
      <vt:lpstr>Character Agency: Narrative Roles</vt:lpstr>
      <vt:lpstr>Core Classes of the Character Module</vt:lpstr>
      <vt:lpstr>Object Properties of the Character</vt:lpstr>
      <vt:lpstr>Object Properties of the Character</vt:lpstr>
      <vt:lpstr>Practical Session!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yxysherlock</cp:lastModifiedBy>
  <cp:revision>2</cp:revision>
  <dcterms:created xsi:type="dcterms:W3CDTF">2026-06-02T08:46:35Z</dcterms:created>
  <dcterms:modified xsi:type="dcterms:W3CDTF">2026-06-02T08:47:07Z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D186557E93E047CB9143A9ACFC5D79DB_13</vt:lpwstr>
  </property>
</Properties>
</file>